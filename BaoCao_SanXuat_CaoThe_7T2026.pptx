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2514E"/>
                </a:solidFill>
                <a:latin typeface="Calibri"/>
              </a:rPr>
              <a:t>Năng suất trên mỗi giờ công, theo tháng (SP/giờ) — thang đo đầy đủ từ 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Năng suất (SP/giờ công)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2514E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8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Tháng 1</c:v>
                  </c:pt>
                  <c:pt idx="1">
                    <c:v>Tháng 2</c:v>
                  </c:pt>
                  <c:pt idx="2">
                    <c:v>Tháng 3</c:v>
                  </c:pt>
                  <c:pt idx="3">
                    <c:v>Tháng 4</c:v>
                  </c:pt>
                  <c:pt idx="4">
                    <c:v>Tháng 5</c:v>
                  </c:pt>
                  <c:pt idx="5">
                    <c:v>Tháng 6</c:v>
                  </c:pt>
                  <c:pt idx="6">
                    <c:v>Tháng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0.6935</c:v>
                </c:pt>
                <c:pt idx="1">
                  <c:v>0.6946</c:v>
                </c:pt>
                <c:pt idx="2">
                  <c:v>0.6979</c:v>
                </c:pt>
                <c:pt idx="3">
                  <c:v>0.7006</c:v>
                </c:pt>
                <c:pt idx="4">
                  <c:v>0.6969</c:v>
                </c:pt>
                <c:pt idx="5">
                  <c:v>0.6944</c:v>
                </c:pt>
                <c:pt idx="6">
                  <c:v>0.6959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52514E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20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2514E"/>
                </a:solidFill>
                <a:latin typeface="Calibri"/>
              </a:rPr>
              <a:t>Độ lệch sản lượng so với kế hoạch (%), xếp theo mức kế hoạch tháng tăng dần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Độ lệch so với kế hoạch (%)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+0.0&quot;%&quot;;-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T2
KH 3.700</c:v>
                  </c:pt>
                  <c:pt idx="1">
                    <c:v>T6
KH 3.900</c:v>
                  </c:pt>
                  <c:pt idx="2">
                    <c:v>T3
KH 3.943</c:v>
                  </c:pt>
                  <c:pt idx="3">
                    <c:v>T1
KH 4.078</c:v>
                  </c:pt>
                  <c:pt idx="4">
                    <c:v>T4
KH 4.194</c:v>
                  </c:pt>
                  <c:pt idx="5">
                    <c:v>T5
KH 4.320</c:v>
                  </c:pt>
                  <c:pt idx="6">
                    <c:v>T7
KH 4.558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1.8</c:v>
                </c:pt>
                <c:pt idx="1">
                  <c:v>2.5</c:v>
                </c:pt>
                <c:pt idx="2">
                  <c:v>-0.7</c:v>
                </c:pt>
                <c:pt idx="3">
                  <c:v>-1.3</c:v>
                </c:pt>
                <c:pt idx="4">
                  <c:v>-3.3</c:v>
                </c:pt>
                <c:pt idx="5">
                  <c:v>-1.6</c:v>
                </c:pt>
                <c:pt idx="6">
                  <c:v>-3.1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-4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5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2514E"/>
                </a:solidFill>
                <a:latin typeface="Calibri"/>
              </a:rPr>
              <a:t>Giờ dừng máy bình quân mỗi ca, theo dây chuyền (giờ)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Giờ dừng máy bình quân mỗi ca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Biến dòng
điện</c:v>
                  </c:pt>
                  <c:pt idx="1">
                    <c:v>Dao cách ly</c:v>
                  </c:pt>
                  <c:pt idx="2">
                    <c:v>Chống sét
van</c:v>
                  </c:pt>
                  <c:pt idx="3">
                    <c:v>Máy cắt
cao áp</c:v>
                  </c:pt>
                  <c:pt idx="4">
                    <c:v>Biến điện áp</c:v>
                  </c:pt>
                  <c:pt idx="5">
                    <c:v>Máy biến
áp lực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</c:v>
                </c:pt>
                <c:pt idx="1">
                  <c:v>1.02</c:v>
                </c:pt>
                <c:pt idx="2">
                  <c:v>1.07</c:v>
                </c:pt>
                <c:pt idx="3">
                  <c:v>1.09</c:v>
                </c:pt>
                <c:pt idx="4">
                  <c:v>1.11</c:v>
                </c:pt>
                <c:pt idx="5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5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3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5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2514E"/>
                </a:solidFill>
                <a:latin typeface="Calibri"/>
              </a:rPr>
              <a:t>Tỷ lệ máy chạy theo tháng (%) — 7 tháng không cải thiện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máy chạy (%)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2514E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B683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</c:v>
                  </c:pt>
                  <c:pt idx="4">
                    <c:v>T5</c:v>
                  </c:pt>
                  <c:pt idx="5">
                    <c:v>T6</c:v>
                  </c:pt>
                  <c:pt idx="6">
                    <c:v>T7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88.2</c:v>
                </c:pt>
                <c:pt idx="1">
                  <c:v>87.5</c:v>
                </c:pt>
                <c:pt idx="2">
                  <c:v>87.7</c:v>
                </c:pt>
                <c:pt idx="3">
                  <c:v>87.4</c:v>
                </c:pt>
                <c:pt idx="4">
                  <c:v>86.5</c:v>
                </c:pt>
                <c:pt idx="5">
                  <c:v>87.6</c:v>
                </c:pt>
                <c:pt idx="6">
                  <c:v>87.3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2514E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5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2514E"/>
                </a:solidFill>
                <a:latin typeface="Calibri"/>
              </a:rPr>
              <a:t>Tỷ lệ sản phẩm lỗi theo dây chuyền, lũy kế 7 tháng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lỗi (%)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Biến dòng
điện</c:v>
                  </c:pt>
                  <c:pt idx="1">
                    <c:v>Dao cách ly</c:v>
                  </c:pt>
                  <c:pt idx="2">
                    <c:v>Chống sét
van</c:v>
                  </c:pt>
                  <c:pt idx="3">
                    <c:v>Biến điện áp</c:v>
                  </c:pt>
                  <c:pt idx="4">
                    <c:v>Máy cắt
cao áp</c:v>
                  </c:pt>
                  <c:pt idx="5">
                    <c:v>Máy biến
áp lực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2.9</c:v>
                </c:pt>
                <c:pt idx="1">
                  <c:v>2.74</c:v>
                </c:pt>
                <c:pt idx="2">
                  <c:v>2.69</c:v>
                </c:pt>
                <c:pt idx="3">
                  <c:v>2.45</c:v>
                </c:pt>
                <c:pt idx="4">
                  <c:v>2.23</c:v>
                </c:pt>
                <c:pt idx="5">
                  <c:v>0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50" b="0" i="0" u="none" strike="noStrike">
                <a:solidFill>
                  <a:srgbClr val="52514E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52514E"/>
                </a:solidFill>
                <a:latin typeface="Calibri"/>
              </a:rPr>
              <a:t>Tỷ trọng trong tổng giờ dừng máy so với tỷ trọng trong tổng sản lượng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 giờ dừng máy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Thứ Hai – Thứ Sáu</c:v>
                  </c:pt>
                  <c:pt idx="1">
                    <c:v>Thứ Bảy – Chủ Nhật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71.5</c:v>
                </c:pt>
                <c:pt idx="1">
                  <c:v>28.5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Tỷ trọng sản lượng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B0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Thứ Hai – Thứ Sáu</c:v>
                  </c:pt>
                  <c:pt idx="1">
                    <c:v>Thứ Bảy – Chủ Nhật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82.8</c:v>
                </c:pt>
                <c:pt idx="1">
                  <c:v>17.2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0B0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2514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Không phủ nhận thành tích 99,1%. Nhưng thông điệp của báo cáo là con số đó đang che một trần năng lực. Toàn bộ deck sẽ chứng minh điều đó bằng 3 trụ lập luận và kết thúc bằng 3 quyết định cần Ban Điều hành phê duyệt.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đỉnh kim tự tháp. Nếu lãnh đạo chỉ nghe một slide, là slide này. Ba trụ lập luận phía sau chỉ để chứng minh câu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này để lãnh đạo biết trước đường đi. Có thể bỏ qua nếu buổi họp gấp.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Mục đích slide: thừa nhận thành tích trước khi đặt vấn đề. Hai ô màu cam là bản lề chuyển sang phần lập luận.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cần nhấn: biểu đồ được vẽ từ 0 để không phóng đại dao động. Đường phẳng là bằng chứng, không phải lỗi trình bày.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hỏi lãnh đạo có thể hỏi: có phải do mùa vụ? Trả lời: mùa vụ không xếp theo mức kế hoạch — T2 (thấp nhất) và T6 đều vượt, T4/T7 (cao nhất) đều hụt. Quan hệ là với mức kế hoạch, không với thời điểm.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Lưu ý minh bạch: 4.081 SP là con số quy đổi lý thuyết (dừng máy = 0). Thực tế không thể về 0; slide kiến nghị dùng mục tiêu thực tế 92% tỷ lệ máy chạy.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insight then chốt: tính đồng đều biến vấn đề từ 'sự cố khó lường' thành 'quy trình có thể cải tiến'. Cũng là lý do kiến nghị số 1 là ghi nhận mã nguyên nhân dừng máy.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Cần trung thực: MBA lực có sản lượng thấp nhất nên 0 lỗi dễ đạt hơn. Vì vậy kiến nghị là 'rà soát để nhân rộng phần áp dụng được', không phải 'copy nguyên'.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kiến nghị dễ triển khai nhất và gần như không tốn tiền: hoặc dồn tải để ca cuối tuần chạy đủ, hoặc cắt ca và chuyển sản lượng sang ngày thường.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Nhấn: mũi 1 bắt đầu bằng một việc không tốn tiền (ghi mã nguyên nhân dừng máy) nhưng là điều kiện để mọi cải tiến sau đó có căn cứ.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bài: quay lại đúng câu ở slide 2. Xin quyết định, không xin ý kiến. Nếu lãnh đạo muốn thêm dữ liệu, phần phụ lục có thể cung cấp bảng chi tiết theo dây chuyền và tháng.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LÃNH ĐẠO  ·  THÁNG 8 /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298448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máy đã chạm</a:t>
            </a:r>
            <a:endParaRPr lang="en-US" sz="4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năng lực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3101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sản xuất thiết bị điện cao thế, 7 tháng đầu năm 2026 — và đề xuất một chương trình hiệu suất thay cho đầu tư thêm dây chuyền.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4443984"/>
            <a:ext cx="6035040" cy="0"/>
          </a:xfrm>
          <a:prstGeom prst="line">
            <a:avLst/>
          </a:prstGeom>
          <a:noFill/>
          <a:ln w="12700">
            <a:solidFill>
              <a:srgbClr val="2E47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5902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trình bày: Phòng Sản xuất  ·  Phê duyệt: Ban Điều hành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1298448"/>
            <a:ext cx="3840480" cy="1481328"/>
          </a:xfrm>
          <a:prstGeom prst="roundRect">
            <a:avLst>
              <a:gd name="adj" fmla="val 3704"/>
            </a:avLst>
          </a:prstGeom>
          <a:solidFill>
            <a:srgbClr val="1E3049"/>
          </a:solidFill>
          <a:ln/>
        </p:spPr>
      </p:sp>
      <p:sp>
        <p:nvSpPr>
          <p:cNvPr id="8" name="Text 6"/>
          <p:cNvSpPr/>
          <p:nvPr/>
        </p:nvSpPr>
        <p:spPr>
          <a:xfrm>
            <a:off x="8010144" y="144475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10144" y="21396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kế hoạch 7 tháng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(28.428 / 28.693 sản phẩm)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2926080"/>
            <a:ext cx="3840480" cy="1481328"/>
          </a:xfrm>
          <a:prstGeom prst="roundRect">
            <a:avLst>
              <a:gd name="adj" fmla="val 3704"/>
            </a:avLst>
          </a:prstGeom>
          <a:solidFill>
            <a:srgbClr val="EB6834"/>
          </a:solidFill>
          <a:ln/>
        </p:spPr>
      </p:sp>
      <p:sp>
        <p:nvSpPr>
          <p:cNvPr id="11" name="Text 9"/>
          <p:cNvSpPr/>
          <p:nvPr/>
        </p:nvSpPr>
        <p:spPr>
          <a:xfrm>
            <a:off x="8010144" y="307238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010144" y="37673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lượng đang bị khóa trong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máy và sản phẩm lỗi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90688" y="4590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4.807 sản phẩm, quy đổi từ 1.355,8 giờ dừng máy</a:t>
            </a:r>
            <a:endParaRPr lang="en-US" sz="10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726 sản phẩm lỗi theo năng suất thực tế khi máy chạy.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Manufacturing.xlsx — sheet “Sản xuất cao thế” · 1.272 bản ghi ngày × dây chuyền · 6 dây chuyền · 01/01–31/07/2026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ĐIỆP CHỦ ĐẠO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lượng 7 tháng tăng 9,7% — nhưng </a:t>
            </a:r>
            <a:pPr algn="l" indent="0" marL="0">
              <a:lnSpc>
                <a:spcPct val="116000"/>
              </a:lnSpc>
              <a:buNone/>
            </a:pPr>
            <a:r>
              <a:rPr lang="en-US" sz="2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mức tăng đó được mua bằng 9,3% giờ công</a:t>
            </a:r>
            <a:pPr algn="l" indent="0" marL="0">
              <a:lnSpc>
                <a:spcPct val="116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không bằng hiệu quả. Kế hoạch càng cao thì hụt càng nặng. Dư địa còn lại nằm trong </a:t>
            </a:r>
            <a:pPr algn="l" indent="0" marL="0">
              <a:lnSpc>
                <a:spcPct val="116000"/>
              </a:lnSpc>
              <a:buNone/>
            </a:pPr>
            <a:r>
              <a:rPr lang="en-US" sz="2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1.356 giờ dừng máy và 726 sản phẩm lỗi</a:t>
            </a:r>
            <a:pPr algn="l" indent="0" marL="0">
              <a:lnSpc>
                <a:spcPct val="116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tương đương 4.807 sản phẩm, tức 16,9% sản lượng hiện tại, có thể thu hồi mà không cần thêm dây chuyền.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66928" y="3218688"/>
            <a:ext cx="3503066" cy="1975104"/>
          </a:xfrm>
          <a:prstGeom prst="roundRect">
            <a:avLst>
              <a:gd name="adj" fmla="val 2778"/>
            </a:avLst>
          </a:prstGeom>
          <a:solidFill>
            <a:srgbClr val="1E304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343814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3438144"/>
            <a:ext cx="2542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4023360"/>
            <a:ext cx="302757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suất/giờ công đứng yên 7 tháng liền: 0,693 → 0,696 SP/giờ (+0,35%).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4314" y="3218688"/>
            <a:ext cx="3503066" cy="1975104"/>
          </a:xfrm>
          <a:prstGeom prst="roundRect">
            <a:avLst>
              <a:gd name="adj" fmla="val 2778"/>
            </a:avLst>
          </a:prstGeom>
          <a:solidFill>
            <a:srgbClr val="1E3049"/>
          </a:solidFill>
          <a:ln/>
        </p:spPr>
      </p:sp>
      <p:sp>
        <p:nvSpPr>
          <p:cNvPr id="10" name="Shape 8"/>
          <p:cNvSpPr/>
          <p:nvPr/>
        </p:nvSpPr>
        <p:spPr>
          <a:xfrm>
            <a:off x="4582058" y="343814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/>
          <p:nvPr/>
        </p:nvSpPr>
        <p:spPr>
          <a:xfrm>
            <a:off x="4582058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94122" y="3438144"/>
            <a:ext cx="2542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2058" y="4023360"/>
            <a:ext cx="302757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12,6% thời gian máy là dừng máy, và nó đều ở mọi dây chuyền, mọi tháng — tức là có cấu trúc, không phải sự cố.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3218688"/>
            <a:ext cx="3503066" cy="1975104"/>
          </a:xfrm>
          <a:prstGeom prst="roundRect">
            <a:avLst>
              <a:gd name="adj" fmla="val 2778"/>
            </a:avLst>
          </a:prstGeom>
          <a:solidFill>
            <a:srgbClr val="1E304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9445" y="343814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" name="Text 14"/>
          <p:cNvSpPr/>
          <p:nvPr/>
        </p:nvSpPr>
        <p:spPr>
          <a:xfrm>
            <a:off x="8359445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71509" y="3438144"/>
            <a:ext cx="25429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9445" y="4023360"/>
            <a:ext cx="302757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chương trình hiệu suất 3 mũi, mục tiêu thu hồi ~3.050 sản phẩm/năm, không CAPEX dây chuyền.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số liệu trong báo cáo được tính trực tiếp từ 1.272 bản ghi sản xuất, giai đoạn 01/01–31/07/2026.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MẠCH LẬP LUẬN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trụ chứng minh cho một kết luận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51760" y="1572768"/>
            <a:ext cx="6858000" cy="786384"/>
          </a:xfrm>
          <a:prstGeom prst="roundRect">
            <a:avLst>
              <a:gd name="adj" fmla="val 5814"/>
            </a:avLst>
          </a:prstGeom>
          <a:solidFill>
            <a:srgbClr val="152232"/>
          </a:solidFill>
          <a:ln/>
        </p:spPr>
      </p:sp>
      <p:sp>
        <p:nvSpPr>
          <p:cNvPr id="5" name="Text 3"/>
          <p:cNvSpPr/>
          <p:nvPr/>
        </p:nvSpPr>
        <p:spPr>
          <a:xfrm>
            <a:off x="2834640" y="1572768"/>
            <a:ext cx="6492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LUẬN:  Nhà máy đã chạm trần năng lực — cần chương trình hiệu suất, không phải thêm dây chuyền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848" y="2359152"/>
            <a:ext cx="0" cy="182880"/>
          </a:xfrm>
          <a:prstGeom prst="line">
            <a:avLst/>
          </a:prstGeom>
          <a:noFill/>
          <a:ln w="15875">
            <a:solidFill>
              <a:srgbClr val="E1E0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06269" y="2542032"/>
            <a:ext cx="7579157" cy="0"/>
          </a:xfrm>
          <a:prstGeom prst="line">
            <a:avLst/>
          </a:prstGeom>
          <a:noFill/>
          <a:ln w="15875">
            <a:solidFill>
              <a:srgbClr val="E1E0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76148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2962656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2926080"/>
            <a:ext cx="25277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trưởng không đến từ hiệu quả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6384" y="3529584"/>
            <a:ext cx="3039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lượng +9,7% đi cùng giờ công +9,3%. Năng suất/giờ công gần như bất động: +0,35% trong 7 tháng.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06269" y="2542032"/>
            <a:ext cx="0" cy="219456"/>
          </a:xfrm>
          <a:prstGeom prst="line">
            <a:avLst/>
          </a:prstGeom>
          <a:noFill/>
          <a:ln w="15875">
            <a:solidFill>
              <a:srgbClr val="E1E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6506" y="276148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5962" y="2962656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5962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88026" y="2926080"/>
            <a:ext cx="25277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Trần năng lực đã lộ diện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5962" y="3529584"/>
            <a:ext cx="3039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giữa mức kế hoạch tháng và tỷ lệ hoàn thành là −0,82. Ba tháng kế hoạch cao nhất chỉ đạt 97,3%.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95848" y="2542032"/>
            <a:ext cx="0" cy="219456"/>
          </a:xfrm>
          <a:prstGeom prst="line">
            <a:avLst/>
          </a:prstGeom>
          <a:noFill/>
          <a:ln w="15875">
            <a:solidFill>
              <a:srgbClr val="E1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46085" y="2761488"/>
            <a:ext cx="3478682" cy="1828800"/>
          </a:xfrm>
          <a:prstGeom prst="roundRect">
            <a:avLst>
              <a:gd name="adj" fmla="val 2500"/>
            </a:avLst>
          </a:prstGeom>
          <a:solidFill>
            <a:srgbClr val="F4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365541" y="2962656"/>
            <a:ext cx="402336" cy="40233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8365541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77605" y="2926080"/>
            <a:ext cx="25277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 địa là dừng máy và chất lượng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65541" y="3529584"/>
            <a:ext cx="30397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1.356 giờ dừng máy (12,6% thời gian) + 726 sản phẩm lỗi = 4.807 sản phẩm, và cả hai đều là vấn đề hệ thống.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885426" y="2542032"/>
            <a:ext cx="0" cy="219456"/>
          </a:xfrm>
          <a:prstGeom prst="line">
            <a:avLst/>
          </a:prstGeom>
          <a:noFill/>
          <a:ln w="15875">
            <a:solidFill>
              <a:srgbClr val="E1E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84632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CHI TIẾT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20652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13892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theo tháng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15072" y="5138928"/>
            <a:ext cx="20652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8224" y="513892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vs. thực hiện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63216" y="5138928"/>
            <a:ext cx="20652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6368" y="513892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máy theo dây chuyền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1360" y="5138928"/>
            <a:ext cx="20652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4512" y="513892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theo nhóm thiết bị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59503" y="5138928"/>
            <a:ext cx="20652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32655" y="5138928"/>
            <a:ext cx="191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cuối tuần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theo phương pháp kim tự tháp: kết luận trước, lập luận sau, số liệu sau cùng.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BỨC TRANH 7 THÁNG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Nhìn từ bề mặt, đây là một kỳ đạt kế hoạch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4475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Sáu chỉ số điều hành chính, lũy kế 01/01–31/07/2026. Không có chỉ số nào ở mức báo động — và đó chính là lý do vấn đề chưa được nhìn thấy.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1675333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31136"/>
            <a:ext cx="13095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28.428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49808" y="2852928"/>
            <a:ext cx="13095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lượng thực tế (SP)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43429" y="2084832"/>
            <a:ext cx="1675333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/>
          <p:nvPr/>
        </p:nvSpPr>
        <p:spPr>
          <a:xfrm>
            <a:off x="2626309" y="2231136"/>
            <a:ext cx="13095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99,1%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626309" y="2852928"/>
            <a:ext cx="13095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kế hoạch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19930" y="2084832"/>
            <a:ext cx="1675333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502810" y="2231136"/>
            <a:ext cx="13095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02810" y="2852928"/>
            <a:ext cx="13095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sản phẩm lỗi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6432" y="2084832"/>
            <a:ext cx="1675333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15" name="Text 13"/>
          <p:cNvSpPr/>
          <p:nvPr/>
        </p:nvSpPr>
        <p:spPr>
          <a:xfrm>
            <a:off x="6379312" y="2231136"/>
            <a:ext cx="13095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1.356 h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379312" y="2852928"/>
            <a:ext cx="13095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dừng máy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2933" y="2084832"/>
            <a:ext cx="1675333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55813" y="2231136"/>
            <a:ext cx="13095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40.830 h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255813" y="2852928"/>
            <a:ext cx="13095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công đã dùng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49434" y="2084832"/>
            <a:ext cx="1675333" cy="1371600"/>
          </a:xfrm>
          <a:prstGeom prst="roundRect">
            <a:avLst>
              <a:gd name="adj" fmla="val 4000"/>
            </a:avLst>
          </a:prstGeom>
          <a:solidFill>
            <a:srgbClr val="F4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10132314" y="2231136"/>
            <a:ext cx="130957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 triệu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0132314" y="2852928"/>
            <a:ext cx="130957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năng (kWh)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895344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hai chỉ số sau không khớp với bức tranh trên: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297680"/>
            <a:ext cx="5391760" cy="1463040"/>
          </a:xfrm>
          <a:prstGeom prst="roundRect">
            <a:avLst>
              <a:gd name="adj" fmla="val 3750"/>
            </a:avLst>
          </a:prstGeom>
          <a:solidFill>
            <a:srgbClr val="FDF0EA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443984"/>
            <a:ext cx="502600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9808" y="5116982"/>
            <a:ext cx="50260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máy là DỪNG MÁY — 1.356 giờ trên tổng 10.801 giờ máy. Tỷ lệ này không cải thiện một tháng nào trong 7 tháng.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3008" y="4297680"/>
            <a:ext cx="5391760" cy="1463040"/>
          </a:xfrm>
          <a:prstGeom prst="roundRect">
            <a:avLst>
              <a:gd name="adj" fmla="val 3750"/>
            </a:avLst>
          </a:prstGeom>
          <a:solidFill>
            <a:srgbClr val="FDF0EA"/>
          </a:solidFill>
          <a:ln/>
        </p:spPr>
      </p:sp>
      <p:sp>
        <p:nvSpPr>
          <p:cNvPr id="28" name="Text 26"/>
          <p:cNvSpPr/>
          <p:nvPr/>
        </p:nvSpPr>
        <p:spPr>
          <a:xfrm>
            <a:off x="6415888" y="4443984"/>
            <a:ext cx="5026000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+0,35%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15888" y="5116982"/>
            <a:ext cx="5026000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toàn bộ mức cải thiện năng suất/giờ công từ tháng 1 đến tháng 7 (0,6935 → 0,6959 SP/giờ).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hợp 1.272 bản ghi. Giờ máy = giờ vận hành 9.444,9 h + giờ dừng máy 1.355,8 h.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TRỤ LẬP LUẬN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76656"/>
            <a:ext cx="420624" cy="42062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76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trưởng được mua bằng giờ công, không bằng hiệu quả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591056"/>
            <a:ext cx="2743200" cy="1225296"/>
          </a:xfrm>
          <a:prstGeom prst="roundRect">
            <a:avLst>
              <a:gd name="adj" fmla="val 4478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2377440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+9,7%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2277222"/>
            <a:ext cx="2377440" cy="4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lượng, T1 → T7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4.027 → 4.417 SP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1591056"/>
            <a:ext cx="2743200" cy="1225296"/>
          </a:xfrm>
          <a:prstGeom prst="roundRect">
            <a:avLst>
              <a:gd name="adj" fmla="val 4478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3694176" y="1737360"/>
            <a:ext cx="2377440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+9,3%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94176" y="2277222"/>
            <a:ext cx="2377440" cy="4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công, T1 → T7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5.807 → 6.347 giờ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55664" y="1591056"/>
            <a:ext cx="2743200" cy="1225296"/>
          </a:xfrm>
          <a:prstGeom prst="roundRect">
            <a:avLst>
              <a:gd name="adj" fmla="val 4478"/>
            </a:avLst>
          </a:prstGeom>
          <a:solidFill>
            <a:srgbClr val="FDF0EA"/>
          </a:solidFill>
          <a:ln/>
        </p:spPr>
      </p:sp>
      <p:sp>
        <p:nvSpPr>
          <p:cNvPr id="13" name="Text 11"/>
          <p:cNvSpPr/>
          <p:nvPr/>
        </p:nvSpPr>
        <p:spPr>
          <a:xfrm>
            <a:off x="6638544" y="1737360"/>
            <a:ext cx="2377440" cy="53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+0,35%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38544" y="2277222"/>
            <a:ext cx="2377440" cy="4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suất/giờ công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0,6935 → 0,6959 SP/giờ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400032" y="1591056"/>
            <a:ext cx="2224735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cách khác: mỗi 1% sản lượng tăng thêm phải trả bằng gần đúng 1% giờ công. Không có đường cong học tập nào trong 7 tháng.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017520"/>
          <a:ext cx="11057839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65"/>
            </a:avLst>
          </a:prstGeom>
          <a:solidFill>
            <a:srgbClr val="152232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quả điều hành: với cơ chế hiện tại, mọi mục tiêu sản lượng cao hơn đều đồng nghĩa với tăng giờ công tương ứng — chi phí tăng tuyến tính, biên lợi nhuận không đổi.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= SL thực tế ÷ Giờ công. Dao động trong toàn kỳ chỉ 0,693–0,701 SP/giờ.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TRỤ LẬP LUẬN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76656"/>
            <a:ext cx="420624" cy="42062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76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càng cao, hụt càng nặng — dấu hiệu của trần năng lực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Bảy tháng được xếp theo mức kế hoạch tăng dần. Độ lệch so với kế hoạch giảm đều theo chiều đó: tương quan −0,82.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901952"/>
          <a:ext cx="7635240" cy="3675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430768" y="2286000"/>
            <a:ext cx="3193999" cy="1133856"/>
          </a:xfrm>
          <a:prstGeom prst="roundRect">
            <a:avLst>
              <a:gd name="adj" fmla="val 4839"/>
            </a:avLst>
          </a:prstGeom>
          <a:solidFill>
            <a:srgbClr val="FDF0EA"/>
          </a:solidFill>
          <a:ln/>
        </p:spPr>
      </p:sp>
      <p:sp>
        <p:nvSpPr>
          <p:cNvPr id="9" name="Text 6"/>
          <p:cNvSpPr/>
          <p:nvPr/>
        </p:nvSpPr>
        <p:spPr>
          <a:xfrm>
            <a:off x="8613648" y="2432304"/>
            <a:ext cx="2828239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−0,82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613648" y="2920959"/>
            <a:ext cx="2828239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giữa mức kế hoạch tháng và tỷ lệ hoàn thành kế hoạch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430768" y="3566160"/>
            <a:ext cx="319399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/>
        </p:spPr>
      </p:sp>
      <p:sp>
        <p:nvSpPr>
          <p:cNvPr id="12" name="Text 9"/>
          <p:cNvSpPr/>
          <p:nvPr/>
        </p:nvSpPr>
        <p:spPr>
          <a:xfrm>
            <a:off x="8613648" y="3712464"/>
            <a:ext cx="2828239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97,3%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613648" y="4108948"/>
            <a:ext cx="2828239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ở 3 tháng kế hoạch CAO nhất (T4, T5, T7)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30768" y="4681728"/>
            <a:ext cx="319399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/>
        </p:spPr>
      </p:sp>
      <p:sp>
        <p:nvSpPr>
          <p:cNvPr id="15" name="Text 12"/>
          <p:cNvSpPr/>
          <p:nvPr/>
        </p:nvSpPr>
        <p:spPr>
          <a:xfrm>
            <a:off x="8613648" y="4828032"/>
            <a:ext cx="2828239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101,2%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613648" y="5224516"/>
            <a:ext cx="2828239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thành ở 3 tháng kế hoạch THẤP nhất (T2, T3, T6)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65"/>
            </a:avLst>
          </a:prstGeom>
          <a:solidFill>
            <a:srgbClr val="152232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không phải vấn đề nỗ lực — nhà máy vượt kế hoạch mỗi khi kế hoạch nằm dưới ~3.950 SP/tháng. Đây là vấn đề công suất: trần thực tế nằm quanh 4.100 SP/tháng.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lệch = (SL thực tế ÷ SL kế hoạch − 1) × 100. Tính trên 7 tháng, n = 1.272 bản ghi.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TRỤ LẬP LUẬN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66928" y="676656"/>
            <a:ext cx="420624" cy="42062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76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4.807 sản phẩm đang bị khóa bên trong nhà máy hiện tại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42646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1.355,8 giờ dừng máy theo năng suất thực tế khi máy chạy (3,01 SP/giờ vận hành), cộng với sản phẩm lỗi.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9432867" cy="91440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2084832"/>
            <a:ext cx="91768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28.428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025398" y="2084832"/>
            <a:ext cx="1332214" cy="914400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10" name="Text 8"/>
          <p:cNvSpPr/>
          <p:nvPr/>
        </p:nvSpPr>
        <p:spPr>
          <a:xfrm>
            <a:off x="10153414" y="2084832"/>
            <a:ext cx="10761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383215" y="2084832"/>
            <a:ext cx="241552" cy="91440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30723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sản xuất  ·  28.428 SP  (85,5%)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53328" y="3072384"/>
            <a:ext cx="5571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algn="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do dừng máy  ·  4.081 SP  (12,3%)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328" y="3364992"/>
            <a:ext cx="5571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algn="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lỗi  ·  726 SP  (2,2%)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17739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Tiềm năng nếu máy chạy hết thời gian có sẵn và không có lỗi:  33.235 SP  (+16,9%)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5391760" cy="1664208"/>
          </a:xfrm>
          <a:prstGeom prst="roundRect">
            <a:avLst>
              <a:gd name="adj" fmla="val 3297"/>
            </a:avLst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931920"/>
            <a:ext cx="491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máy: 4.081 SP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4672" y="4334256"/>
            <a:ext cx="4916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1.355,8 giờ dừng máy = 12,6% tổng thời gian máy.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máy chạy 7 tháng: 87,4% — không tháng nào vượt 88,2%.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đổi theo 3,01 SP/giờ vận hành thực tế.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3803904"/>
            <a:ext cx="5391760" cy="1664208"/>
          </a:xfrm>
          <a:prstGeom prst="roundRect">
            <a:avLst>
              <a:gd name="adj" fmla="val 3297"/>
            </a:avLst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6470752" y="3931920"/>
            <a:ext cx="491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lỗi: 726 SP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0752" y="4334256"/>
            <a:ext cx="49162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lỗi toàn kỳ 2,55%, cao nhất ở tháng 5 (2,73%).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trong 6 dây chuyền tạo ra 75,5% tổng số lỗi.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Dây chuyền máy biến áp lực: 0 lỗi trên 1.028 SP.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65"/>
            </a:avLst>
          </a:prstGeom>
          <a:solidFill>
            <a:srgbClr val="152232"/>
          </a:solidFill>
          <a:ln/>
        </p:spPr>
      </p:sp>
      <p:sp>
        <p:nvSpPr>
          <p:cNvPr id="23" name="Text 21"/>
          <p:cNvSpPr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khoản thất thoát này nằm bên trong năng lực đã đầu tư — thu hồi chúng không cần thêm dây chuyền, thêm nhà xưởng hay thêm giờ công.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suất khi máy chạy = 28.428 SP ÷ 9.444,9 giờ vận hành = 3,01 SP/giờ. Đây là quy đổi tiềm năng, không phải cam kết sản lượng.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CHO TRỤ 3  · 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máy không phải sự cố ngẫu nhiên — nó có cấu trúc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dừng máy do sự cố, nó sẽ dồn cục ở một vài dây chuyền hoặc một vài tháng. Dữ liệu cho thấy điều ngược lại: nó phân bố gần như đồng đều.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38528"/>
          <a:ext cx="5532120" cy="3639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27648" y="1938528"/>
          <a:ext cx="5285232" cy="3639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65"/>
            </a:avLst>
          </a:prstGeom>
          <a:solidFill>
            <a:srgbClr val="152232"/>
          </a:solidFill>
          <a:ln/>
        </p:spPr>
      </p:sp>
      <p:sp>
        <p:nvSpPr>
          <p:cNvPr id="8" name="Text 4"/>
          <p:cNvSpPr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Biên độ giữa dây chuyền tốt nhất và kém nhất chỉ 0,12 giờ/ca (12%). Dừng máy đồng đều ở mọi nơi nghĩa là nguyên nhân nằm ở quy trình chung — chuyển đổi lô, chờ vật tư, bảo trì phản ứng — nên một chương trình chung có thể xử lý được.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dây chuyền có đúng 212 ca trong kỳ. Dữ liệu hiện chỉ ghi tổng giờ dừng máy, chưa có mã nguyên nhân — đây là khoảng trống cần bổ sung.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CHO TRỤ 3  · 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mực “không lỗi” đã tồn tại ngay trong nhà máy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Dây chuyền máy biến áp lực sản xuất 1.028 sản phẩm trong 7 tháng với 0 sản phẩm lỗi. Năm dây chuyền còn lại dao động 2,23–2,90%.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38528"/>
          <a:ext cx="7635240" cy="3639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30768" y="2286000"/>
            <a:ext cx="3193999" cy="1188720"/>
          </a:xfrm>
          <a:prstGeom prst="roundRect">
            <a:avLst>
              <a:gd name="adj" fmla="val 4615"/>
            </a:avLst>
          </a:prstGeom>
          <a:solidFill>
            <a:srgbClr val="FDF0EA"/>
          </a:solidFill>
          <a:ln/>
        </p:spPr>
      </p:sp>
      <p:sp>
        <p:nvSpPr>
          <p:cNvPr id="7" name="Text 4"/>
          <p:cNvSpPr/>
          <p:nvPr/>
        </p:nvSpPr>
        <p:spPr>
          <a:xfrm>
            <a:off x="8613648" y="2432304"/>
            <a:ext cx="2828239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613648" y="2951683"/>
            <a:ext cx="2828239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số lỗi đến từ 3 dây chuyền: chống sét van, biến dòng điện, biến điện áp (548 / 726 SP)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430768" y="3621024"/>
            <a:ext cx="319399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/>
        </p:spPr>
      </p:sp>
      <p:sp>
        <p:nvSpPr>
          <p:cNvPr id="10" name="Text 7"/>
          <p:cNvSpPr/>
          <p:nvPr/>
        </p:nvSpPr>
        <p:spPr>
          <a:xfrm>
            <a:off x="8613648" y="3767328"/>
            <a:ext cx="2828239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A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lỗi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13648" y="4163812"/>
            <a:ext cx="2828239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1.028 SP của dây chuyền máy biến áp lực trong 7 tháng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430768" y="4736592"/>
            <a:ext cx="319399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/>
        </p:spPr>
      </p:sp>
      <p:sp>
        <p:nvSpPr>
          <p:cNvPr id="13" name="Text 10"/>
          <p:cNvSpPr/>
          <p:nvPr/>
        </p:nvSpPr>
        <p:spPr>
          <a:xfrm>
            <a:off x="8613648" y="4882896"/>
            <a:ext cx="2828239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 SP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613648" y="5279380"/>
            <a:ext cx="2828239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 được mỗi 7 tháng nếu tỷ lệ lỗi toàn nhà máy về 1,5%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65"/>
            </a:avLst>
          </a:prstGeom>
          <a:solidFill>
            <a:srgbClr val="152232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này loại bỏ giả thuyết “thiết bị cao thế thì phải có lỗi”. Vấn đề không phải năng lực kỹ thuật, mà là chuẩn hóa: quy trình cho kết quả 0 lỗi đã có sẵn và chưa được nhân rộng.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biến áp lực là dây chuyền có sản lượng thấp nhất (1.028 SP) và ít lô nhất — cần đối chiếu quy trình trước khi kết luận nhân rộng được toàn bộ.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CHO TRỤ 3  · 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cuối tuần tiêu 28,5% giờ dừng máy để làm ra 17,2% sản lượng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dừng máy gần như không giảm vào cuối tuần (1,07 giờ/ca, y hệt ngày thường), nhưng sản lượng thì giảm mạnh — nên phần dừng máy bị phân bổ trên một nền sản lượng nhỏ hơn nhiều.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201168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44968" y="2286000"/>
            <a:ext cx="3879799" cy="1133856"/>
          </a:xfrm>
          <a:prstGeom prst="roundRect">
            <a:avLst>
              <a:gd name="adj" fmla="val 4839"/>
            </a:avLst>
          </a:prstGeom>
          <a:solidFill>
            <a:srgbClr val="FDF0EA"/>
          </a:solidFill>
          <a:ln/>
        </p:spPr>
      </p:sp>
      <p:sp>
        <p:nvSpPr>
          <p:cNvPr id="7" name="Text 4"/>
          <p:cNvSpPr/>
          <p:nvPr/>
        </p:nvSpPr>
        <p:spPr>
          <a:xfrm>
            <a:off x="7927848" y="2432304"/>
            <a:ext cx="3514039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80,6%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927848" y="2920959"/>
            <a:ext cx="3514039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máy chạy vào cuối tuần, so với 89,0% ngày thường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44968" y="3566160"/>
            <a:ext cx="387979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/>
        </p:spPr>
      </p:sp>
      <p:sp>
        <p:nvSpPr>
          <p:cNvPr id="10" name="Text 7"/>
          <p:cNvSpPr/>
          <p:nvPr/>
        </p:nvSpPr>
        <p:spPr>
          <a:xfrm>
            <a:off x="7927848" y="3712464"/>
            <a:ext cx="3514039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 h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927848" y="4108948"/>
            <a:ext cx="3514039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dừng máy mỗi ca vào cuối tuần — bằng đúng ngày thường (1,06 h)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44968" y="4681728"/>
            <a:ext cx="3879799" cy="969264"/>
          </a:xfrm>
          <a:prstGeom prst="roundRect">
            <a:avLst>
              <a:gd name="adj" fmla="val 5660"/>
            </a:avLst>
          </a:prstGeom>
          <a:solidFill>
            <a:srgbClr val="F4F5F7"/>
          </a:solidFill>
          <a:ln/>
        </p:spPr>
      </p:sp>
      <p:sp>
        <p:nvSpPr>
          <p:cNvPr id="13" name="Text 10"/>
          <p:cNvSpPr/>
          <p:nvPr/>
        </p:nvSpPr>
        <p:spPr>
          <a:xfrm>
            <a:off x="7927848" y="4828032"/>
            <a:ext cx="3514039" cy="426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386,7 h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927848" y="5224516"/>
            <a:ext cx="3514039" cy="348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giờ dừng máy phát sinh trong các ca cuối tuần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" y="5742432"/>
            <a:ext cx="11057839" cy="566928"/>
          </a:xfrm>
          <a:prstGeom prst="roundRect">
            <a:avLst>
              <a:gd name="adj" fmla="val 8065"/>
            </a:avLst>
          </a:prstGeom>
          <a:solidFill>
            <a:srgbClr val="152232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phần chi phí dừng máy mang tính cố định theo ca — mở ca thì phát sinh, bất kể chạy nhiều hay ít. Ca cuối tuần với tải thấp là nơi khoản cố định đó đắt nhất trên mỗi sản phẩm.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 có 152 ngày thường và 60 ngày cuối tuần; 6 dây chuyền × mỗi ngày = 912 ca thường và 360 ca cuối tuần.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NGHỊ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hiệu suất ba mũi, không CAPEX dây chuyền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giá trị mục tiêu của mũi 1 và mũi 2: khoảng 3.050 sản phẩm mỗi năm — tương đương 6,3% sản lượng quy năm hiện tại (48.734 SP) — thu hồi từ năng lực đã đầu tư.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3515258" cy="3639312"/>
          </a:xfrm>
          <a:prstGeom prst="roundRect">
            <a:avLst>
              <a:gd name="adj" fmla="val 1561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5798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16736" y="2103120"/>
            <a:ext cx="2527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dừng máy có hệ thống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303977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đầu tiên tốn 0 đồng: bổ sung mã nguyên nhân dừng máy vào nhật ký ca. Hiện dữ liệu chỉ có tổng giờ, nên chưa thể ưu tiên đúng nguyên nhân.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3931920"/>
            <a:ext cx="3039770" cy="0"/>
          </a:xfrm>
          <a:prstGeom prst="line">
            <a:avLst/>
          </a:prstGeom>
          <a:noFill/>
          <a:ln w="12700">
            <a:solidFill>
              <a:srgbClr val="E1E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04164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máy chạy 87,4% → 92% trong 6 tháng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4535424"/>
            <a:ext cx="3039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trì: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Sản xuất + Bảo trì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" y="4974336"/>
            <a:ext cx="3039770" cy="438912"/>
          </a:xfrm>
          <a:prstGeom prst="roundRect">
            <a:avLst>
              <a:gd name="adj" fmla="val 12500"/>
            </a:avLst>
          </a:prstGeom>
          <a:solidFill>
            <a:srgbClr val="15223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974336"/>
            <a:ext cx="3039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+2.537 SP / năm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38218" y="1956816"/>
            <a:ext cx="3515258" cy="3639312"/>
          </a:xfrm>
          <a:prstGeom prst="roundRect">
            <a:avLst>
              <a:gd name="adj" fmla="val 1561"/>
            </a:avLst>
          </a:prstGeom>
          <a:solidFill>
            <a:srgbClr val="F4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5962" y="215798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596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88026" y="2103120"/>
            <a:ext cx="2527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rộng chuẩn chất lượng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5962" y="2724912"/>
            <a:ext cx="303977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 soát quy trình dây chuyền máy biến áp lực (0 lỗi / 1.028 SP) và nhân rộng phần áp dụng được sang 3 dây chuyền chiếm 75,5% tổng lỗi.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5962" y="3931920"/>
            <a:ext cx="3039770" cy="0"/>
          </a:xfrm>
          <a:prstGeom prst="line">
            <a:avLst/>
          </a:prstGeom>
          <a:noFill/>
          <a:ln w="12700">
            <a:solidFill>
              <a:srgbClr val="E1E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5962" y="404164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 lệ lỗi 2,55% → 1,50%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5962" y="4535424"/>
            <a:ext cx="3039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trì: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Chất lượng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5962" y="4974336"/>
            <a:ext cx="3039770" cy="438912"/>
          </a:xfrm>
          <a:prstGeom prst="roundRect">
            <a:avLst>
              <a:gd name="adj" fmla="val 12500"/>
            </a:avLst>
          </a:prstGeom>
          <a:solidFill>
            <a:srgbClr val="15223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5962" y="4974336"/>
            <a:ext cx="3039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+298 SP / 7 tháng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09509" y="1956816"/>
            <a:ext cx="3515258" cy="3639312"/>
          </a:xfrm>
          <a:prstGeom prst="roundRect">
            <a:avLst>
              <a:gd name="adj" fmla="val 1561"/>
            </a:avLst>
          </a:prstGeom>
          <a:solidFill>
            <a:srgbClr val="F4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347253" y="215798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7" name="Text 25"/>
          <p:cNvSpPr/>
          <p:nvPr/>
        </p:nvSpPr>
        <p:spPr>
          <a:xfrm>
            <a:off x="8347253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59317" y="2103120"/>
            <a:ext cx="252770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cấu trúc ca cuối tuần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347253" y="2724912"/>
            <a:ext cx="303977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một trong hai: nâng tải ca cuối tuần lên mức ngày thường, hoặc cắt ca và dồn sản lượng vào Thứ Hai–Thứ Sáu. Quyết định trong tháng 9.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47253" y="3931920"/>
            <a:ext cx="3039770" cy="0"/>
          </a:xfrm>
          <a:prstGeom prst="line">
            <a:avLst/>
          </a:prstGeom>
          <a:noFill/>
          <a:ln w="12700">
            <a:solidFill>
              <a:srgbClr val="E1E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7253" y="4041648"/>
            <a:ext cx="30397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hồi phần lớn 386,7 giờ dừng máy cuối tuần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47253" y="4535424"/>
            <a:ext cx="30397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trì: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đốc Sản xuất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347253" y="4974336"/>
            <a:ext cx="3039770" cy="438912"/>
          </a:xfrm>
          <a:prstGeom prst="roundRect">
            <a:avLst>
              <a:gd name="adj" fmla="val 12500"/>
            </a:avLst>
          </a:prstGeom>
          <a:solidFill>
            <a:srgbClr val="152232"/>
          </a:solidFill>
          <a:ln/>
        </p:spPr>
      </p:sp>
      <p:sp>
        <p:nvSpPr>
          <p:cNvPr id="34" name="Text 32"/>
          <p:cNvSpPr/>
          <p:nvPr/>
        </p:nvSpPr>
        <p:spPr>
          <a:xfrm>
            <a:off x="8347253" y="4974336"/>
            <a:ext cx="303977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chi phí/SP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Mũi 1 = 492 giờ vận hành tăng thêm × 3,01 SP/giờ, quy năm = 2.537 SP. Mũi 2 = 28.428 SP × (2,55% − 1,50%) = 298 SP/7 tháng = 511 SP/năm. Mũi 3 giảm chi phí đơn vị, chưa quy ra sản lượng. Đây là mục tiêu, chưa phải cam kết.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PHÊ DUYỆT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quyết định xin Ban Điều hành thông qua hôm nay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57839" cy="932688"/>
          </a:xfrm>
          <a:prstGeom prst="roundRect">
            <a:avLst>
              <a:gd name="adj" fmla="val 4902"/>
            </a:avLst>
          </a:prstGeom>
          <a:solidFill>
            <a:srgbClr val="1E304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37944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66420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Phê duyệt chương trình hiệu suất 3 mũi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10528" y="166420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tỷ lệ máy chạy 92% và tỷ lệ lỗi 1,5% vào 31/03/2027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93808" y="166420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 lực ngay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633472"/>
            <a:ext cx="11057839" cy="932688"/>
          </a:xfrm>
          <a:prstGeom prst="roundRect">
            <a:avLst>
              <a:gd name="adj" fmla="val 4902"/>
            </a:avLst>
          </a:prstGeom>
          <a:solidFill>
            <a:srgbClr val="1E3049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898648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272491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Bổ sung mã nguyên nhân dừng máy vào nhật ký 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0528" y="272491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bắt buộc để ưu tiên đúng; không phát sinh chi phí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93808" y="2724912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01/09/2026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94176"/>
            <a:ext cx="11057839" cy="932688"/>
          </a:xfrm>
          <a:prstGeom prst="roundRect">
            <a:avLst>
              <a:gd name="adj" fmla="val 4902"/>
            </a:avLst>
          </a:prstGeom>
          <a:solidFill>
            <a:srgbClr val="1E3049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959352"/>
            <a:ext cx="402336" cy="402336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3785616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trần kế hoạch 4.100 SP/tháng cho đến khi trần năng lực được nâng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0528" y="378561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lặp lại tình trạng hụt kế hoạch ở các tháng cao điểm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893808" y="378561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từ kỳ Q4/2026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809744"/>
            <a:ext cx="11057839" cy="1207008"/>
          </a:xfrm>
          <a:prstGeom prst="roundRect">
            <a:avLst>
              <a:gd name="adj" fmla="val 4545"/>
            </a:avLst>
          </a:prstGeom>
          <a:solidFill>
            <a:srgbClr val="EB6834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" y="4809744"/>
            <a:ext cx="1050919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ba quyết định trên được thông qua, nhà máy có thể nâng sản lượng khoảng 6,3% mỗi năm mà không cần thêm một dây chuyền nào — bằng cách lấy lại phần năng lực đã đầu tư nhưng đang không sinh ra sản phẩm.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8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số liệu tính từ Manufacturing.xlsx, sheet “Sản xuất cao thế”, 1.272 bản ghi, 01/01–31/07/2026. Các mức mục tiêu là đề xuất, cần Sản xuất và Bảo trì xác nhận tính khả thi.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Bao cao san xuat thiet bi dien cao the - 7T/2026</dc:title>
  <dc:subject>PptxGenJS Presentation</dc:subject>
  <dc:creator>MARIO</dc:creator>
  <cp:lastModifiedBy>MARIO</cp:lastModifiedBy>
  <cp:revision>1</cp:revision>
  <dcterms:created xsi:type="dcterms:W3CDTF">2026-08-17T09:09:10Z</dcterms:created>
  <dcterms:modified xsi:type="dcterms:W3CDTF">2026-08-17T09:09:10Z</dcterms:modified>
</cp:coreProperties>
</file>